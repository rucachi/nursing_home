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2" r:id="rId14"/>
    <p:sldId id="291" r:id="rId15"/>
    <p:sldId id="28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1E6"/>
    <a:srgbClr val="2E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56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2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맑은 고딕"/>
              </a:defRPr>
            </a:pPr>
            <a:r>
              <a:t>요양(병)원 시설 유형별</a:t>
            </a:r>
            <a:br/>
            <a:r>
              <a:t>대피체계 표준모델 개발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128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400" b="0">
                <a:solidFill>
                  <a:srgbClr val="A0C4E8"/>
                </a:solidFill>
                <a:latin typeface="맑은 고딕"/>
              </a:defRPr>
            </a:pPr>
            <a:r>
              <a:rPr lang="en-US" dirty="0" smtClean="0"/>
              <a:t>(</a:t>
            </a:r>
            <a:r>
              <a:rPr lang="ko-KR" altLang="en-US" dirty="0" smtClean="0"/>
              <a:t>재</a:t>
            </a:r>
            <a:r>
              <a:rPr lang="en-US" altLang="ko-KR" dirty="0" smtClean="0"/>
              <a:t>)</a:t>
            </a:r>
            <a:r>
              <a:rPr lang="ko-KR" altLang="en-US" dirty="0" err="1" smtClean="0"/>
              <a:t>국제도시물정보과학연구원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algn="ctr">
              <a:lnSpc>
                <a:spcPct val="150000"/>
              </a:lnSpc>
              <a:defRPr sz="2400" b="0">
                <a:solidFill>
                  <a:srgbClr val="A0C4E8"/>
                </a:solidFill>
                <a:latin typeface="맑은 고딕"/>
              </a:defRPr>
            </a:pPr>
            <a:r>
              <a:rPr lang="ko-KR" altLang="en-US" dirty="0" smtClean="0"/>
              <a:t>김태형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386687" y="5481044"/>
            <a:ext cx="9418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AACC"/>
                </a:solidFill>
                <a:latin typeface="맑은 고딕"/>
              </a:defRPr>
            </a:pPr>
            <a:r>
              <a:rPr dirty="0"/>
              <a:t>2026</a:t>
            </a:r>
            <a:r>
              <a:rPr dirty="0" smtClean="0"/>
              <a:t>년</a:t>
            </a:r>
            <a:r>
              <a:rPr lang="en-US" dirty="0" smtClean="0"/>
              <a:t> 6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4</a:t>
            </a:r>
            <a:r>
              <a:rPr lang="ko-KR" altLang="en-US" dirty="0" smtClean="0"/>
              <a:t>일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/>
              <a:t>2 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맑은 고딕"/>
              </a:defRPr>
            </a:pPr>
            <a:r>
              <a:t>목  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972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제안 개요 및 추진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추진 배경 및 문제 제기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214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 목표 및 수행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14015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핵심 역량 및 제안의 차별화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706623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제안기관의 핵심 역량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182111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8211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세부 연구 수행 계획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639311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과업1: 기초현황조사 (시설 분류·사례 분석·심층 인터뷰)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319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과업2: 국내외 대피체계 비교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24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과업3: 대피체계 표준모델 (정량적 근거·표준안·행동 매뉴얼)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5171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과업4: 합동 훈련 시나리오 및 정책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0974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중장기 확산 로드맵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285232"/>
            <a:ext cx="457200" cy="36576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25400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B2A4A"/>
                </a:solidFill>
                <a:latin typeface="맑은 고딕"/>
              </a:defRPr>
            </a:pPr>
            <a:r>
              <a:t>사업 관리 및 기관 역량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742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t>    연구 추진 일정 및 마일스톤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60350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400"/>
              </a:spcAft>
              <a:defRPr sz="1200" b="0">
                <a:solidFill>
                  <a:srgbClr val="666666"/>
                </a:solidFill>
                <a:latin typeface="맑은 고딕"/>
              </a:defRPr>
            </a:pPr>
            <a:r>
              <a:rPr dirty="0"/>
              <a:t>    </a:t>
            </a:r>
            <a:r>
              <a:rPr dirty="0" err="1"/>
              <a:t>보고</a:t>
            </a:r>
            <a:r>
              <a:rPr dirty="0"/>
              <a:t> </a:t>
            </a:r>
            <a:r>
              <a:rPr dirty="0" err="1"/>
              <a:t>체계</a:t>
            </a:r>
            <a:r>
              <a:rPr dirty="0"/>
              <a:t> 및 </a:t>
            </a:r>
            <a:r>
              <a:rPr dirty="0" err="1"/>
              <a:t>품질관리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/>
              <a:t>3 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rPr dirty="0"/>
              <a:t>Ⅰ. </a:t>
            </a:r>
            <a:r>
              <a:rPr dirty="0" err="1"/>
              <a:t>제안</a:t>
            </a:r>
            <a:r>
              <a:rPr dirty="0"/>
              <a:t> </a:t>
            </a:r>
            <a:r>
              <a:rPr dirty="0" err="1"/>
              <a:t>개요</a:t>
            </a:r>
            <a:r>
              <a:rPr dirty="0"/>
              <a:t> 및 </a:t>
            </a:r>
            <a:r>
              <a:rPr dirty="0" err="1"/>
              <a:t>추진</a:t>
            </a:r>
            <a:r>
              <a:rPr dirty="0"/>
              <a:t> </a:t>
            </a:r>
            <a:r>
              <a:rPr dirty="0" err="1"/>
              <a:t>전략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ko-KR" altLang="en-US" dirty="0" smtClean="0"/>
              <a:t>제안 요청서 과제 내용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261485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altLang="ko-KR" dirty="0" smtClean="0"/>
              <a:t>1. </a:t>
            </a:r>
            <a:r>
              <a:rPr lang="ko-KR" altLang="en-US" dirty="0" smtClean="0"/>
              <a:t>기초 현황 파악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31520" y="1682622"/>
            <a:ext cx="834808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요양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 시설 현황과 그 변화 추이를 조사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입지 건물 유형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노후화 정도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입소자 수 등을 기준으로 세분하여 파악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요양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 화재에 따른 주요 대피 사례 분석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관계자 인터뷰를 통해 화재 안전관리 및 대피 시 애로사항 확인 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2680267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2. </a:t>
            </a:r>
            <a:r>
              <a:rPr lang="ko-KR" altLang="en-US" dirty="0" smtClean="0"/>
              <a:t>국내외 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화재 대피체계 비교 분석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731519" y="2988718"/>
            <a:ext cx="851551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요양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 화재 대피 관련 국내 및 선진국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의 법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〮제도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시설기준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교육〮훈련 등 실태 비교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시설 유형에 따라 화재 대피체계를 구분하여 운영하는 국외 수범 사례 조사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유형별 중점 관리 사항 파악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국내외 비교 분석과 수범사례를 바탕으로 시사점 도출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4067658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/>
              <a:t>3</a:t>
            </a:r>
            <a:r>
              <a:rPr lang="en-US" dirty="0" smtClean="0"/>
              <a:t>. </a:t>
            </a:r>
            <a:r>
              <a:rPr lang="ko-KR" altLang="en-US" dirty="0" smtClean="0"/>
              <a:t>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시설 유형별 대피체계 표준모델 개발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31519" y="4401865"/>
            <a:ext cx="851551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화재 대피체계 관점에서 요양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 유형을 구분하기 위한 기준 마련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유형별 위험 요인 발굴 정리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요양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병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 시설 유형별 대피 계획 표준안 작성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31520" y="5162301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4. </a:t>
            </a:r>
            <a:r>
              <a:rPr lang="ko-KR" altLang="en-US" dirty="0" smtClean="0"/>
              <a:t>표준모델 확산 전략 수립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731519" y="5444993"/>
            <a:ext cx="8515511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작성된 표준모델을 현장에 적용하기 위한 단계별 추진계획 수립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관계기관 훈련 시나리오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안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작성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679"/>
              </a:lnSpc>
              <a:spcAft>
                <a:spcPts val="600"/>
              </a:spcAft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● </a:t>
            </a:r>
            <a:r>
              <a:rPr lang="ko-KR" altLang="en-US" sz="1200" dirty="0" smtClean="0">
                <a:latin typeface="맑은 고딕"/>
              </a:rPr>
              <a:t>관련 법령 및 지침 개정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시설 </a:t>
            </a:r>
            <a:r>
              <a:rPr lang="ko-KR" altLang="en-US" sz="1200" dirty="0" err="1" smtClean="0">
                <a:latin typeface="맑은 고딕"/>
              </a:rPr>
              <a:t>개보수</a:t>
            </a:r>
            <a:r>
              <a:rPr lang="ko-KR" altLang="en-US" sz="1200" dirty="0" smtClean="0">
                <a:latin typeface="맑은 고딕"/>
              </a:rPr>
              <a:t> 지원 등 장</a:t>
            </a:r>
            <a:r>
              <a:rPr lang="ko-KR" altLang="en-US" sz="12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〮단기 정책 관제 제시</a:t>
            </a:r>
            <a:endParaRPr sz="1200" dirty="0">
              <a:latin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dirty="0"/>
              <a:t>1. </a:t>
            </a:r>
            <a:r>
              <a:rPr lang="ko-KR" altLang="en-US" dirty="0" smtClean="0"/>
              <a:t>기초 현황 파악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요양병원과 요양원의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시설 현황 조사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1992" y="1721259"/>
            <a:ext cx="4205163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소방서와의 거리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415" y="1977520"/>
            <a:ext cx="4267954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 smtClean="0">
                <a:latin typeface="맑은 고딕"/>
              </a:rPr>
              <a:t>V-World </a:t>
            </a:r>
            <a:r>
              <a:rPr lang="ko-KR" altLang="en-US" sz="1200" dirty="0" smtClean="0">
                <a:latin typeface="맑은 고딕"/>
              </a:rPr>
              <a:t>공간정보 </a:t>
            </a:r>
            <a:r>
              <a:rPr lang="ko-KR" altLang="en-US" sz="1200" dirty="0" err="1" smtClean="0">
                <a:latin typeface="맑은 고딕"/>
              </a:rPr>
              <a:t>오픈플랫폼</a:t>
            </a:r>
            <a:r>
              <a:rPr lang="ko-KR" altLang="en-US" sz="1200" dirty="0" smtClean="0">
                <a:latin typeface="맑은 고딕"/>
              </a:rPr>
              <a:t> </a:t>
            </a:r>
            <a:r>
              <a:rPr lang="en-US" altLang="ko-KR" sz="1200" dirty="0" smtClean="0">
                <a:latin typeface="맑은 고딕"/>
              </a:rPr>
              <a:t>API : </a:t>
            </a:r>
            <a:r>
              <a:rPr lang="ko-KR" altLang="en-US" sz="1200" dirty="0" smtClean="0">
                <a:latin typeface="맑은 고딕"/>
              </a:rPr>
              <a:t>국토교통부 제공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전국소방관서 위치 정보 </a:t>
            </a:r>
            <a:r>
              <a:rPr lang="en-US" altLang="ko-KR" sz="1200" dirty="0" smtClean="0">
                <a:latin typeface="맑은 고딕"/>
              </a:rPr>
              <a:t>: </a:t>
            </a:r>
            <a:r>
              <a:rPr lang="ko-KR" altLang="en-US" sz="1200" dirty="0" err="1" smtClean="0">
                <a:latin typeface="맑은 고딕"/>
              </a:rPr>
              <a:t>소방청</a:t>
            </a:r>
            <a:r>
              <a:rPr lang="ko-KR" altLang="en-US" sz="1200" dirty="0" smtClean="0">
                <a:latin typeface="맑은 고딕"/>
              </a:rPr>
              <a:t> 제공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760720" y="1497831"/>
            <a:ext cx="543585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건물 점유 형태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단독 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VS 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복합상가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94143" y="1754092"/>
            <a:ext cx="5435857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건축물대장정보 서비스 </a:t>
            </a:r>
            <a:r>
              <a:rPr lang="en-US" altLang="ko-KR" sz="1200" dirty="0" smtClean="0">
                <a:latin typeface="맑은 고딕"/>
              </a:rPr>
              <a:t>REST API : </a:t>
            </a:r>
            <a:r>
              <a:rPr lang="ko-KR" altLang="en-US" sz="1200" dirty="0" smtClean="0">
                <a:latin typeface="맑은 고딕"/>
              </a:rPr>
              <a:t>국토교통부제공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건물의 층별 용도와 면적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복합용도 여부 파악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60720" y="2393311"/>
            <a:ext cx="543585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요양병원 규모 및 인력 현황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94143" y="2649572"/>
            <a:ext cx="5435857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요양기관 현황 정보 </a:t>
            </a:r>
            <a:r>
              <a:rPr lang="en-US" altLang="ko-KR" sz="1200" dirty="0" smtClean="0">
                <a:latin typeface="맑은 고딕"/>
              </a:rPr>
              <a:t>API : </a:t>
            </a:r>
            <a:r>
              <a:rPr lang="ko-KR" altLang="en-US" sz="1200" dirty="0" smtClean="0">
                <a:latin typeface="맑은 고딕"/>
              </a:rPr>
              <a:t>건강보험심사평가원 제공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국민건강보험공단 장기요양기관 정보 </a:t>
            </a:r>
            <a:r>
              <a:rPr lang="en-US" altLang="ko-KR" sz="1200" dirty="0" smtClean="0">
                <a:latin typeface="맑은 고딕"/>
              </a:rPr>
              <a:t>API : </a:t>
            </a:r>
            <a:r>
              <a:rPr lang="ko-KR" altLang="en-US" sz="1200" dirty="0" smtClean="0">
                <a:latin typeface="맑은 고딕"/>
              </a:rPr>
              <a:t>국민건강보험공단 제공</a:t>
            </a:r>
            <a:endParaRPr lang="en-US" altLang="ko-KR" sz="1200" dirty="0" smtClean="0">
              <a:latin typeface="맑은 고딕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26" y="3312530"/>
            <a:ext cx="8212858" cy="297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080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dirty="0"/>
              <a:t>1. </a:t>
            </a:r>
            <a:r>
              <a:rPr lang="ko-KR" altLang="en-US" dirty="0" smtClean="0"/>
              <a:t>기초 현황 파악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42977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요양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병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 화재에 따른 주요 대피 사례 분석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881993" y="1775339"/>
            <a:ext cx="3593594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실패 사례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43321" y="2016539"/>
            <a:ext cx="3582740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장성 </a:t>
            </a:r>
            <a:r>
              <a:rPr lang="ko-KR" altLang="en-US" sz="1200" dirty="0" err="1" smtClean="0">
                <a:latin typeface="맑은 고딕"/>
              </a:rPr>
              <a:t>효사랑</a:t>
            </a:r>
            <a:r>
              <a:rPr lang="ko-KR" altLang="en-US" sz="1200" dirty="0" smtClean="0">
                <a:latin typeface="맑은 고딕"/>
              </a:rPr>
              <a:t> 요양병원</a:t>
            </a:r>
            <a:r>
              <a:rPr lang="en-US" altLang="ko-KR" sz="1200" dirty="0" smtClean="0">
                <a:latin typeface="맑은 고딕"/>
              </a:rPr>
              <a:t>(2014</a:t>
            </a:r>
            <a:r>
              <a:rPr lang="ko-KR" altLang="en-US" sz="1200" dirty="0" smtClean="0">
                <a:latin typeface="맑은 고딕"/>
              </a:rPr>
              <a:t>년</a:t>
            </a:r>
            <a:r>
              <a:rPr lang="en-US" altLang="ko-KR" sz="1200" dirty="0" smtClean="0">
                <a:latin typeface="맑은 고딕"/>
              </a:rPr>
              <a:t>, 21</a:t>
            </a:r>
            <a:r>
              <a:rPr lang="ko-KR" altLang="en-US" sz="1200" dirty="0" smtClean="0">
                <a:latin typeface="맑은 고딕"/>
              </a:rPr>
              <a:t>명 사망</a:t>
            </a:r>
            <a:r>
              <a:rPr lang="en-US" altLang="ko-KR" sz="1200" dirty="0" smtClean="0">
                <a:latin typeface="맑은 고딕"/>
              </a:rPr>
              <a:t>)</a:t>
            </a: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밀양 세종병원</a:t>
            </a:r>
            <a:r>
              <a:rPr lang="en-US" altLang="ko-KR" sz="1200" dirty="0" smtClean="0">
                <a:latin typeface="맑은 고딕"/>
              </a:rPr>
              <a:t>(2018</a:t>
            </a:r>
            <a:r>
              <a:rPr lang="ko-KR" altLang="en-US" sz="1200" dirty="0" smtClean="0">
                <a:latin typeface="맑은 고딕"/>
              </a:rPr>
              <a:t>년</a:t>
            </a:r>
            <a:r>
              <a:rPr lang="en-US" altLang="ko-KR" sz="1200" dirty="0" smtClean="0">
                <a:latin typeface="맑은 고딕"/>
              </a:rPr>
              <a:t>, 47</a:t>
            </a:r>
            <a:r>
              <a:rPr lang="ko-KR" altLang="en-US" sz="1200" dirty="0" smtClean="0">
                <a:latin typeface="맑은 고딕"/>
              </a:rPr>
              <a:t>명 사망</a:t>
            </a:r>
            <a:r>
              <a:rPr lang="en-US" altLang="ko-KR" sz="1200" dirty="0" smtClean="0">
                <a:latin typeface="맑은 고딕"/>
              </a:rPr>
              <a:t>)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1991" y="2792511"/>
            <a:ext cx="4645305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성공 사례 및 시사점 도출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5415" y="3048772"/>
            <a:ext cx="336017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신촌 </a:t>
            </a:r>
            <a:r>
              <a:rPr lang="ko-KR" altLang="en-US" sz="1200" dirty="0" err="1" smtClean="0">
                <a:latin typeface="맑은 고딕"/>
              </a:rPr>
              <a:t>세브란스</a:t>
            </a:r>
            <a:r>
              <a:rPr lang="ko-KR" altLang="en-US" sz="1200" dirty="0" smtClean="0">
                <a:latin typeface="맑은 고딕"/>
              </a:rPr>
              <a:t> 병원</a:t>
            </a:r>
            <a:r>
              <a:rPr lang="en-US" altLang="ko-KR" sz="1200" dirty="0" smtClean="0">
                <a:latin typeface="맑은 고딕"/>
              </a:rPr>
              <a:t>(2018</a:t>
            </a:r>
            <a:r>
              <a:rPr lang="ko-KR" altLang="en-US" sz="1200" dirty="0" smtClean="0">
                <a:latin typeface="맑은 고딕"/>
              </a:rPr>
              <a:t>년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사망자 </a:t>
            </a:r>
            <a:r>
              <a:rPr lang="en-US" altLang="ko-KR" sz="1200" dirty="0" smtClean="0">
                <a:latin typeface="맑은 고딕"/>
              </a:rPr>
              <a:t>0</a:t>
            </a:r>
            <a:r>
              <a:rPr lang="ko-KR" altLang="en-US" sz="1200" dirty="0" smtClean="0">
                <a:latin typeface="맑은 고딕"/>
              </a:rPr>
              <a:t>명</a:t>
            </a:r>
            <a:r>
              <a:rPr lang="en-US" altLang="ko-KR" sz="1200" dirty="0" smtClean="0">
                <a:latin typeface="맑은 고딕"/>
              </a:rPr>
              <a:t>)</a:t>
            </a: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김포 요양병원</a:t>
            </a:r>
            <a:r>
              <a:rPr lang="en-US" altLang="ko-KR" sz="1200" dirty="0" smtClean="0">
                <a:latin typeface="맑은 고딕"/>
              </a:rPr>
              <a:t>(2019</a:t>
            </a:r>
            <a:r>
              <a:rPr lang="ko-KR" altLang="en-US" sz="1200" dirty="0" smtClean="0">
                <a:latin typeface="맑은 고딕"/>
              </a:rPr>
              <a:t>년</a:t>
            </a:r>
            <a:r>
              <a:rPr lang="en-US" altLang="ko-KR" sz="1200" dirty="0" smtClean="0">
                <a:latin typeface="맑은 고딕"/>
              </a:rPr>
              <a:t>, 2</a:t>
            </a:r>
            <a:r>
              <a:rPr lang="ko-KR" altLang="en-US" sz="1200" dirty="0" smtClean="0">
                <a:latin typeface="맑은 고딕"/>
              </a:rPr>
              <a:t>명 사망</a:t>
            </a:r>
            <a:r>
              <a:rPr lang="en-US" altLang="ko-KR" sz="1200" dirty="0" smtClean="0">
                <a:latin typeface="맑은 고딕"/>
              </a:rPr>
              <a:t>)</a:t>
            </a: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충주 요양병원</a:t>
            </a:r>
            <a:r>
              <a:rPr lang="en-US" altLang="ko-KR" sz="1200" dirty="0" smtClean="0">
                <a:latin typeface="맑은 고딕"/>
              </a:rPr>
              <a:t>(2024</a:t>
            </a:r>
            <a:r>
              <a:rPr lang="ko-KR" altLang="en-US" sz="1200" dirty="0" smtClean="0">
                <a:latin typeface="맑은 고딕"/>
              </a:rPr>
              <a:t>년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사망자 </a:t>
            </a:r>
            <a:r>
              <a:rPr lang="en-US" altLang="ko-KR" sz="1200" dirty="0" smtClean="0">
                <a:latin typeface="맑은 고딕"/>
              </a:rPr>
              <a:t>0</a:t>
            </a:r>
            <a:r>
              <a:rPr lang="ko-KR" altLang="en-US" sz="1200" dirty="0" smtClean="0">
                <a:latin typeface="맑은 고딕"/>
              </a:rPr>
              <a:t>명</a:t>
            </a:r>
            <a:r>
              <a:rPr lang="en-US" altLang="ko-KR" sz="1200" dirty="0" smtClean="0">
                <a:latin typeface="맑은 고딕"/>
              </a:rPr>
              <a:t>)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9826" y="1425690"/>
            <a:ext cx="651199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</a:t>
            </a: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관계자 인터뷰를 통한 화재 안전관리 및 대피 애로사항 확인 방안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5380299" y="1775339"/>
            <a:ext cx="3593594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현장 대응 인력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err="1" smtClean="0">
                <a:solidFill>
                  <a:srgbClr val="2E86AB"/>
                </a:solidFill>
                <a:latin typeface="맑은 고딕"/>
              </a:rPr>
              <a:t>요양보호사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간호사 등 의료진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541626" y="2016539"/>
            <a:ext cx="5888373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야간 조력 피난의 한계 규명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와상 환자 </a:t>
            </a:r>
            <a:r>
              <a:rPr lang="en-US" altLang="ko-KR" sz="1200" dirty="0" smtClean="0">
                <a:latin typeface="맑은 고딕"/>
              </a:rPr>
              <a:t>1</a:t>
            </a:r>
            <a:r>
              <a:rPr lang="ko-KR" altLang="en-US" sz="1200" dirty="0" smtClean="0">
                <a:latin typeface="맑은 고딕"/>
              </a:rPr>
              <a:t>명을 대피시키기 위한 최소 </a:t>
            </a:r>
            <a:r>
              <a:rPr lang="en-US" altLang="ko-KR" sz="1200" dirty="0" smtClean="0">
                <a:latin typeface="맑은 고딕"/>
              </a:rPr>
              <a:t>2</a:t>
            </a:r>
            <a:r>
              <a:rPr lang="ko-KR" altLang="en-US" sz="1200" dirty="0" smtClean="0">
                <a:latin typeface="맑은 고딕"/>
              </a:rPr>
              <a:t>인이 필요한 물리적 한계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치매 환자의 돌발행동 통제의 어려움 등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80297" y="2946946"/>
            <a:ext cx="4645305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시설 운영 주체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소방안전관리자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13720" y="3203207"/>
            <a:ext cx="5316591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상가 </a:t>
            </a:r>
            <a:r>
              <a:rPr lang="ko-KR" altLang="en-US" sz="1200" dirty="0" err="1" smtClean="0">
                <a:latin typeface="맑은 고딕"/>
              </a:rPr>
              <a:t>임대형</a:t>
            </a:r>
            <a:r>
              <a:rPr lang="en-US" altLang="ko-KR" sz="1200" dirty="0" smtClean="0">
                <a:latin typeface="맑은 고딕"/>
              </a:rPr>
              <a:t>(</a:t>
            </a:r>
            <a:r>
              <a:rPr lang="ko-KR" altLang="en-US" sz="1200" dirty="0" smtClean="0">
                <a:latin typeface="맑은 고딕"/>
              </a:rPr>
              <a:t>복합용도</a:t>
            </a:r>
            <a:r>
              <a:rPr lang="en-US" altLang="ko-KR" sz="1200" dirty="0" smtClean="0">
                <a:latin typeface="맑은 고딕"/>
              </a:rPr>
              <a:t>) </a:t>
            </a:r>
            <a:r>
              <a:rPr lang="ko-KR" altLang="en-US" sz="1200" dirty="0" smtClean="0">
                <a:latin typeface="맑은 고딕"/>
              </a:rPr>
              <a:t>시설의 경우 복도 폭</a:t>
            </a:r>
            <a:r>
              <a:rPr lang="en-US" altLang="ko-KR" sz="1200" dirty="0" smtClean="0">
                <a:latin typeface="맑은 고딕"/>
              </a:rPr>
              <a:t>(2.4m) </a:t>
            </a:r>
            <a:r>
              <a:rPr lang="ko-KR" altLang="en-US" sz="1200" dirty="0" smtClean="0">
                <a:latin typeface="맑은 고딕"/>
              </a:rPr>
              <a:t>확장이나 대피공간 시설이 구조적</a:t>
            </a:r>
            <a:r>
              <a:rPr lang="en-US" altLang="ko-KR" sz="1200" dirty="0" smtClean="0">
                <a:latin typeface="맑은 고딕"/>
              </a:rPr>
              <a:t>/</a:t>
            </a:r>
            <a:r>
              <a:rPr lang="ko-KR" altLang="en-US" sz="1200" dirty="0" smtClean="0">
                <a:latin typeface="맑은 고딕"/>
              </a:rPr>
              <a:t>계약적으로 가능 여부 등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정체적 지원</a:t>
            </a:r>
            <a:r>
              <a:rPr lang="en-US" altLang="ko-KR" sz="1200" dirty="0" smtClean="0">
                <a:latin typeface="맑은 고딕"/>
              </a:rPr>
              <a:t>(</a:t>
            </a:r>
            <a:r>
              <a:rPr lang="ko-KR" altLang="en-US" sz="1200" dirty="0" smtClean="0">
                <a:latin typeface="맑은 고딕"/>
              </a:rPr>
              <a:t>인센티브 등</a:t>
            </a:r>
            <a:r>
              <a:rPr lang="en-US" altLang="ko-KR" sz="1200" dirty="0" smtClean="0">
                <a:latin typeface="맑은 고딕"/>
              </a:rPr>
              <a:t>)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11505" y="4146448"/>
            <a:ext cx="4645305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외부 구조 인력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소방관</a:t>
            </a:r>
            <a:r>
              <a:rPr lang="en-US" altLang="ko-KR" sz="1200" dirty="0" smtClean="0">
                <a:solidFill>
                  <a:srgbClr val="2E86AB"/>
                </a:solidFill>
                <a:latin typeface="맑은 고딕"/>
              </a:rPr>
              <a:t>)</a:t>
            </a:r>
            <a:endParaRPr sz="1200" dirty="0">
              <a:solidFill>
                <a:srgbClr val="2E86AB"/>
              </a:solidFill>
              <a:latin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4928" y="4402709"/>
            <a:ext cx="5316591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좁은 계단실과 복도에서 대피하는 휠체어가 엉키는 동선 충돌 문제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환자의 위치나 중증도 정보가 인계되지 않는 문제 등</a:t>
            </a:r>
            <a:endParaRPr lang="en-US" altLang="ko-KR" sz="1200" dirty="0" smtClean="0">
              <a:latin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63943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 smtClean="0"/>
              <a:t>2</a:t>
            </a:r>
            <a:r>
              <a:rPr dirty="0" smtClean="0"/>
              <a:t>. </a:t>
            </a:r>
            <a:r>
              <a:rPr lang="ko-KR" altLang="en-US" dirty="0" smtClean="0"/>
              <a:t>국내외 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화재 대피체계 비교 분석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42977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국가별 피난 및 안전관리 비교 매트릭스</a:t>
            </a:r>
            <a:endParaRPr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48099"/>
            <a:ext cx="10742083" cy="323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591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 smtClean="0"/>
              <a:t>2</a:t>
            </a:r>
            <a:r>
              <a:rPr dirty="0" smtClean="0"/>
              <a:t>. </a:t>
            </a:r>
            <a:r>
              <a:rPr lang="ko-KR" altLang="en-US" dirty="0" smtClean="0"/>
              <a:t>국내외 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화재 대피체계 비교 분석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429778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시사점 도출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1058200" y="1834949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1. </a:t>
            </a:r>
            <a:r>
              <a:rPr dirty="0" err="1" smtClean="0"/>
              <a:t>미국</a:t>
            </a:r>
            <a:r>
              <a:rPr dirty="0" smtClean="0"/>
              <a:t> </a:t>
            </a:r>
            <a:r>
              <a:rPr dirty="0"/>
              <a:t>NFPA 101 </a:t>
            </a: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분석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058200" y="2216122"/>
            <a:ext cx="3971109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요양병원을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'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지체부자유자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보호시설'로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분류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수평피난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1개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층을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2개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방화구획으로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분할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환자를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비화재존으로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침상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째</a:t>
            </a:r>
            <a:r>
              <a:rPr sz="1200" dirty="0" smtClean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이동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3층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초과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건물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최소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2시간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내화성능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확보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58200" y="3511166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2. </a:t>
            </a:r>
            <a:r>
              <a:rPr dirty="0" err="1" smtClean="0"/>
              <a:t>일본</a:t>
            </a:r>
            <a:r>
              <a:rPr dirty="0" smtClean="0"/>
              <a:t> </a:t>
            </a:r>
            <a:r>
              <a:rPr dirty="0" err="1"/>
              <a:t>고령자</a:t>
            </a:r>
            <a:r>
              <a:rPr dirty="0"/>
              <a:t> </a:t>
            </a:r>
            <a:r>
              <a:rPr dirty="0" err="1"/>
              <a:t>시설</a:t>
            </a:r>
            <a:r>
              <a:rPr dirty="0"/>
              <a:t> </a:t>
            </a:r>
            <a:r>
              <a:rPr dirty="0" err="1"/>
              <a:t>화재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 </a:t>
            </a:r>
            <a:r>
              <a:rPr dirty="0" err="1"/>
              <a:t>제도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1058200" y="3922646"/>
            <a:ext cx="5029200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스프링클러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전면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의무화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(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면적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제한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철폐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거실·복도·계단실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철저한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방화구획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외기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개방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발코니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등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일시대기공간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활용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ts val="1539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소규모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시설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포함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예외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없는</a:t>
            </a:r>
            <a:r>
              <a:rPr sz="1200" dirty="0">
                <a:solidFill>
                  <a:srgbClr val="333333"/>
                </a:solidFill>
                <a:latin typeface="맑은 고딕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맑은 고딕"/>
              </a:rPr>
              <a:t>적용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9" name="타원 8"/>
          <p:cNvSpPr/>
          <p:nvPr/>
        </p:nvSpPr>
        <p:spPr>
          <a:xfrm>
            <a:off x="6544491" y="1834949"/>
            <a:ext cx="1724298" cy="14737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안전 구획된 거실 확보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8773885" y="1834949"/>
            <a:ext cx="1724298" cy="14737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내화성능 확보</a:t>
            </a:r>
            <a:endParaRPr lang="ko-KR" altLang="en-US" dirty="0"/>
          </a:p>
        </p:txBody>
      </p:sp>
      <p:sp>
        <p:nvSpPr>
          <p:cNvPr id="17" name="타원 16"/>
          <p:cNvSpPr/>
          <p:nvPr/>
        </p:nvSpPr>
        <p:spPr>
          <a:xfrm>
            <a:off x="6544491" y="3575602"/>
            <a:ext cx="1724298" cy="14737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/>
              <a:t>철저한 방화 구획</a:t>
            </a:r>
            <a:endParaRPr lang="ko-KR" altLang="en-US" dirty="0"/>
          </a:p>
        </p:txBody>
      </p:sp>
      <p:sp>
        <p:nvSpPr>
          <p:cNvPr id="18" name="타원 17"/>
          <p:cNvSpPr/>
          <p:nvPr/>
        </p:nvSpPr>
        <p:spPr>
          <a:xfrm>
            <a:off x="8773885" y="3575602"/>
            <a:ext cx="1724298" cy="147378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소규모 시설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764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/>
              <a:t>3</a:t>
            </a:r>
            <a:r>
              <a:rPr dirty="0" smtClean="0"/>
              <a:t>. </a:t>
            </a:r>
            <a:r>
              <a:rPr lang="ko-KR" altLang="en-US" dirty="0" smtClean="0"/>
              <a:t>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시설 유형별 대피체계 표준모델 개발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25690"/>
            <a:ext cx="924960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화재 대피체계 관점에서 요양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병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원 유형을 구분하기 위한 기준 마련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유형별 위험 요인 발굴 정리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000256" y="2082092"/>
            <a:ext cx="4267954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소방대와의 거리</a:t>
            </a:r>
            <a:r>
              <a:rPr lang="en-US" altLang="ko-KR" sz="1200" dirty="0">
                <a:latin typeface="맑은 고딕"/>
              </a:rPr>
              <a:t> </a:t>
            </a:r>
            <a:r>
              <a:rPr lang="en-US" altLang="ko-KR" sz="1200" dirty="0" smtClean="0">
                <a:latin typeface="맑은 고딕"/>
              </a:rPr>
              <a:t>: </a:t>
            </a:r>
            <a:r>
              <a:rPr lang="ko-KR" altLang="en-US" sz="1200" dirty="0" smtClean="0">
                <a:latin typeface="맑은 고딕"/>
              </a:rPr>
              <a:t>출동 시간</a:t>
            </a:r>
            <a:r>
              <a:rPr lang="en-US" altLang="ko-KR" sz="1200" dirty="0" smtClean="0">
                <a:latin typeface="맑은 고딕"/>
              </a:rPr>
              <a:t>(</a:t>
            </a:r>
            <a:r>
              <a:rPr lang="ko-KR" altLang="en-US" sz="1200" dirty="0" smtClean="0">
                <a:latin typeface="맑은 고딕"/>
              </a:rPr>
              <a:t>도심형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err="1" smtClean="0">
                <a:latin typeface="맑은 고딕"/>
              </a:rPr>
              <a:t>농어촌형</a:t>
            </a:r>
            <a:r>
              <a:rPr lang="en-US" altLang="ko-KR" sz="1200" dirty="0" smtClean="0">
                <a:latin typeface="맑은 고딕"/>
              </a:rPr>
              <a:t>)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2138" y="1755004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1. </a:t>
            </a:r>
            <a:r>
              <a:rPr lang="ko-KR" altLang="en-US" dirty="0" smtClean="0"/>
              <a:t>위치적 특징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004538" y="2763482"/>
            <a:ext cx="236972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대형 </a:t>
            </a:r>
            <a:r>
              <a:rPr lang="en-US" altLang="ko-KR" sz="1200" dirty="0" smtClean="0">
                <a:latin typeface="맑은 고딕"/>
              </a:rPr>
              <a:t>: 100 </a:t>
            </a:r>
            <a:r>
              <a:rPr lang="ko-KR" altLang="en-US" sz="1200" dirty="0" smtClean="0">
                <a:latin typeface="맑은 고딕"/>
              </a:rPr>
              <a:t>침상 이상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중형 </a:t>
            </a:r>
            <a:r>
              <a:rPr lang="en-US" altLang="ko-KR" sz="1200" dirty="0" smtClean="0">
                <a:latin typeface="맑은 고딕"/>
              </a:rPr>
              <a:t>: 50~100</a:t>
            </a:r>
            <a:r>
              <a:rPr lang="ko-KR" altLang="en-US" sz="1200" dirty="0" smtClean="0">
                <a:latin typeface="맑은 고딕"/>
              </a:rPr>
              <a:t>침상 이하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소형 </a:t>
            </a:r>
            <a:r>
              <a:rPr lang="en-US" altLang="ko-KR" sz="1200" dirty="0" smtClean="0">
                <a:latin typeface="맑은 고딕"/>
              </a:rPr>
              <a:t>: 50 </a:t>
            </a:r>
            <a:r>
              <a:rPr lang="ko-KR" altLang="en-US" sz="1200" dirty="0" smtClean="0">
                <a:latin typeface="맑은 고딕"/>
              </a:rPr>
              <a:t>침상 이하 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6420" y="2436394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/>
              <a:t>2</a:t>
            </a:r>
            <a:r>
              <a:rPr lang="en-US" dirty="0" smtClean="0"/>
              <a:t>. </a:t>
            </a:r>
            <a:r>
              <a:rPr lang="ko-KR" altLang="en-US" dirty="0" smtClean="0"/>
              <a:t>규모별 특징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000256" y="4038124"/>
            <a:ext cx="407402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자력 보행이 불가능한 와상 환자</a:t>
            </a:r>
            <a:r>
              <a:rPr lang="en-US" altLang="ko-KR" sz="1200" dirty="0" smtClean="0">
                <a:latin typeface="맑은 고딕"/>
              </a:rPr>
              <a:t>/ </a:t>
            </a:r>
            <a:r>
              <a:rPr lang="ko-KR" altLang="en-US" sz="1200" dirty="0" smtClean="0">
                <a:latin typeface="맑은 고딕"/>
              </a:rPr>
              <a:t>휠체어 환자 비율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138" y="3711036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3. </a:t>
            </a:r>
            <a:r>
              <a:rPr lang="ko-KR" altLang="en-US" dirty="0" smtClean="0"/>
              <a:t>환자 특성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1000256" y="4760853"/>
            <a:ext cx="407402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야간 시간대 상주 인력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2138" y="4433765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/>
              <a:t>4</a:t>
            </a:r>
            <a:r>
              <a:rPr lang="en-US" dirty="0" smtClean="0"/>
              <a:t>. </a:t>
            </a:r>
            <a:r>
              <a:rPr lang="ko-KR" altLang="en-US" dirty="0" smtClean="0"/>
              <a:t>인력적 한계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04538" y="5539039"/>
            <a:ext cx="4074020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내화 성능</a:t>
            </a:r>
            <a:r>
              <a:rPr lang="en-US" altLang="ko-KR" sz="1200" dirty="0" smtClean="0">
                <a:latin typeface="맑은 고딕"/>
              </a:rPr>
              <a:t>/</a:t>
            </a:r>
            <a:r>
              <a:rPr lang="ko-KR" altLang="en-US" sz="1200" dirty="0" err="1" smtClean="0">
                <a:latin typeface="맑은 고딕"/>
              </a:rPr>
              <a:t>안전구획된</a:t>
            </a:r>
            <a:r>
              <a:rPr lang="ko-KR" altLang="en-US" sz="1200" dirty="0" smtClean="0">
                <a:latin typeface="맑은 고딕"/>
              </a:rPr>
              <a:t> 거실 등 유무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6420" y="5211951"/>
            <a:ext cx="3971109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dirty="0" smtClean="0"/>
              <a:t>5. </a:t>
            </a:r>
            <a:r>
              <a:rPr lang="ko-KR" altLang="en-US" dirty="0" smtClean="0"/>
              <a:t>소방설비 및 건축물</a:t>
            </a:r>
            <a:endParaRPr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965" y="2436394"/>
            <a:ext cx="3248478" cy="3000794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3531" y="2391715"/>
            <a:ext cx="3324689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868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/>
              <a:t>3</a:t>
            </a:r>
            <a:r>
              <a:rPr dirty="0" smtClean="0"/>
              <a:t>. </a:t>
            </a:r>
            <a:r>
              <a:rPr lang="ko-KR" altLang="en-US" dirty="0" smtClean="0"/>
              <a:t>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시설 유형별 대피체계 표준모델 개발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9254" y="1735514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수평방화구획 소규모화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119731" y="2055639"/>
            <a:ext cx="4267954" cy="2949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층별로 </a:t>
            </a:r>
            <a:r>
              <a:rPr lang="ko-KR" altLang="en-US" sz="1200" dirty="0" smtClean="0"/>
              <a:t>화염</a:t>
            </a:r>
            <a:r>
              <a:rPr lang="en-US" altLang="ko-KR" sz="1200" dirty="0" smtClean="0"/>
              <a:t>/</a:t>
            </a:r>
            <a:r>
              <a:rPr lang="ko-KR" altLang="en-US" sz="1200" dirty="0" smtClean="0"/>
              <a:t>연기가 차단된 안전 거실 확보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9254" y="2409417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피난 </a:t>
            </a:r>
            <a:r>
              <a:rPr lang="ko-KR" altLang="en-US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유효폭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확장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092343" y="2740638"/>
            <a:ext cx="5130513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병상 및 휠체어 </a:t>
            </a:r>
            <a:r>
              <a:rPr lang="ko-KR" altLang="en-US" sz="1200" dirty="0" err="1" smtClean="0">
                <a:latin typeface="맑은 고딕"/>
              </a:rPr>
              <a:t>교행</a:t>
            </a:r>
            <a:r>
              <a:rPr lang="ko-KR" altLang="en-US" sz="1200" dirty="0" smtClean="0">
                <a:latin typeface="맑은 고딕"/>
              </a:rPr>
              <a:t> 시 병목 현상 방지를 위한 최소 </a:t>
            </a:r>
            <a:r>
              <a:rPr lang="ko-KR" altLang="en-US" sz="1200" dirty="0" err="1" smtClean="0">
                <a:latin typeface="맑은 고딕"/>
              </a:rPr>
              <a:t>유효폭</a:t>
            </a:r>
            <a:r>
              <a:rPr lang="ko-KR" altLang="en-US" sz="1200" dirty="0" smtClean="0">
                <a:latin typeface="맑은 고딕"/>
              </a:rPr>
              <a:t> 확보</a:t>
            </a:r>
            <a:endParaRPr lang="en-US" altLang="ko-KR" sz="1200" dirty="0" smtClean="0">
              <a:latin typeface="맑은 고딕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09254" y="3088560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연기 침투 원천 차단</a:t>
            </a:r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1119731" y="3440636"/>
            <a:ext cx="5130513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err="1" smtClean="0">
                <a:latin typeface="맑은 고딕"/>
              </a:rPr>
              <a:t>계단실</a:t>
            </a:r>
            <a:r>
              <a:rPr lang="ko-KR" altLang="en-US" sz="1200" dirty="0" smtClean="0">
                <a:latin typeface="맑은 고딕"/>
              </a:rPr>
              <a:t> 및 부속실 차압 </a:t>
            </a:r>
            <a:r>
              <a:rPr lang="en-US" altLang="ko-KR" sz="1200" dirty="0" smtClean="0">
                <a:latin typeface="맑은 고딕"/>
              </a:rPr>
              <a:t>50Pa </a:t>
            </a:r>
            <a:r>
              <a:rPr lang="ko-KR" altLang="en-US" sz="1200" dirty="0" smtClean="0">
                <a:latin typeface="맑은 고딕"/>
              </a:rPr>
              <a:t>유지</a:t>
            </a:r>
            <a:endParaRPr lang="en-US" altLang="ko-KR" sz="1200" dirty="0" smtClean="0">
              <a:latin typeface="맑은 고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235" y="2266053"/>
            <a:ext cx="7974527" cy="354768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31520" y="1385081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피난 방화 건축 계획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0168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 smtClean="0"/>
              <a:t>3</a:t>
            </a:r>
            <a:r>
              <a:rPr dirty="0" smtClean="0"/>
              <a:t>. </a:t>
            </a:r>
            <a:r>
              <a:rPr lang="ko-KR" altLang="en-US" dirty="0" smtClean="0"/>
              <a:t>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시설 유형별 대피체계 표준모델 개발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1459027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물리적 설계의 작동 원리</a:t>
            </a:r>
            <a:endParaRPr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55" y="1874563"/>
            <a:ext cx="9638073" cy="410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70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/>
              <a:t>3</a:t>
            </a:r>
            <a:r>
              <a:rPr dirty="0" smtClean="0"/>
              <a:t>. </a:t>
            </a:r>
            <a:r>
              <a:rPr lang="ko-KR" altLang="en-US" dirty="0" smtClean="0"/>
              <a:t>요양</a:t>
            </a:r>
            <a:r>
              <a:rPr lang="en-US" altLang="ko-KR" dirty="0" smtClean="0"/>
              <a:t>(</a:t>
            </a:r>
            <a:r>
              <a:rPr lang="ko-KR" altLang="en-US" dirty="0" smtClean="0"/>
              <a:t>병</a:t>
            </a:r>
            <a:r>
              <a:rPr lang="en-US" altLang="ko-KR" dirty="0" smtClean="0"/>
              <a:t>)</a:t>
            </a:r>
            <a:r>
              <a:rPr lang="ko-KR" altLang="en-US" dirty="0" smtClean="0"/>
              <a:t>원 시설 유형별 대피체계 표준모델 개발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1459027"/>
            <a:ext cx="310638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환자 중증도 맞춤형 대피 통제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65183" y="1777211"/>
            <a:ext cx="5770467" cy="3103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무리한 수직 피난 배제 및 순차적 수평 피난</a:t>
            </a:r>
            <a:r>
              <a:rPr lang="en-US" altLang="ko-KR" sz="1200" dirty="0" smtClean="0">
                <a:latin typeface="맑은 고딕"/>
              </a:rPr>
              <a:t>(C→B→A)</a:t>
            </a:r>
            <a:r>
              <a:rPr lang="ko-KR" altLang="en-US" sz="1200" dirty="0" smtClean="0">
                <a:latin typeface="맑은 고딕"/>
              </a:rPr>
              <a:t>프로세스</a:t>
            </a:r>
            <a:endParaRPr lang="en-US" altLang="ko-KR" sz="1200" dirty="0" smtClean="0">
              <a:latin typeface="맑은 고딕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27" y="2200789"/>
            <a:ext cx="4973821" cy="37062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79057" y="1425334"/>
            <a:ext cx="442133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□ 야간 특화 조력자 의무 배치 기준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512721" y="1743518"/>
            <a:ext cx="5265838" cy="605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의무 배치 기준</a:t>
            </a:r>
            <a:r>
              <a:rPr lang="en-US" altLang="ko-KR" sz="1200" dirty="0" smtClean="0">
                <a:latin typeface="맑은 고딕"/>
              </a:rPr>
              <a:t>: </a:t>
            </a:r>
            <a:r>
              <a:rPr lang="ko-KR" altLang="en-US" sz="1200" dirty="0" smtClean="0">
                <a:latin typeface="맑은 고딕"/>
              </a:rPr>
              <a:t>층별 </a:t>
            </a:r>
            <a:r>
              <a:rPr lang="en-US" altLang="ko-KR" sz="1200" dirty="0" smtClean="0">
                <a:latin typeface="맑은 고딕"/>
              </a:rPr>
              <a:t>50</a:t>
            </a:r>
            <a:r>
              <a:rPr lang="ko-KR" altLang="en-US" sz="1200" dirty="0" smtClean="0">
                <a:latin typeface="맑은 고딕"/>
              </a:rPr>
              <a:t>명 수용 병동 기준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심야 최소 </a:t>
            </a:r>
            <a:r>
              <a:rPr lang="en-US" altLang="ko-KR" sz="1200" dirty="0" smtClean="0">
                <a:latin typeface="맑은 고딕"/>
              </a:rPr>
              <a:t>5</a:t>
            </a:r>
            <a:r>
              <a:rPr lang="ko-KR" altLang="en-US" sz="1200" dirty="0" smtClean="0">
                <a:latin typeface="맑은 고딕"/>
              </a:rPr>
              <a:t>명 조력자 상주</a:t>
            </a:r>
            <a:endParaRPr lang="en-US" altLang="ko-KR" sz="1200" dirty="0" smtClean="0">
              <a:latin typeface="맑은 고딕"/>
            </a:endParaRPr>
          </a:p>
          <a:p>
            <a:pPr marL="171450" indent="-171450">
              <a:lnSpc>
                <a:spcPts val="1679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 smtClean="0">
                <a:latin typeface="맑은 고딕"/>
              </a:rPr>
              <a:t>성별 최적화</a:t>
            </a:r>
            <a:r>
              <a:rPr lang="en-US" altLang="ko-KR" sz="1200" dirty="0" smtClean="0">
                <a:latin typeface="맑은 고딕"/>
              </a:rPr>
              <a:t>: </a:t>
            </a:r>
            <a:r>
              <a:rPr lang="ko-KR" altLang="en-US" sz="1200" dirty="0" smtClean="0">
                <a:latin typeface="맑은 고딕"/>
              </a:rPr>
              <a:t>남성 </a:t>
            </a:r>
            <a:r>
              <a:rPr lang="en-US" altLang="ko-KR" sz="1200" dirty="0" smtClean="0">
                <a:latin typeface="맑은 고딕"/>
              </a:rPr>
              <a:t>2</a:t>
            </a:r>
            <a:r>
              <a:rPr lang="ko-KR" altLang="en-US" sz="1200" dirty="0" smtClean="0">
                <a:latin typeface="맑은 고딕"/>
              </a:rPr>
              <a:t>명</a:t>
            </a:r>
            <a:r>
              <a:rPr lang="en-US" altLang="ko-KR" sz="1200" dirty="0" smtClean="0">
                <a:latin typeface="맑은 고딕"/>
              </a:rPr>
              <a:t>, </a:t>
            </a:r>
            <a:r>
              <a:rPr lang="ko-KR" altLang="en-US" sz="1200" dirty="0" smtClean="0">
                <a:latin typeface="맑은 고딕"/>
              </a:rPr>
              <a:t>여성 </a:t>
            </a:r>
            <a:r>
              <a:rPr lang="en-US" altLang="ko-KR" sz="1200" dirty="0" smtClean="0">
                <a:latin typeface="맑은 고딕"/>
              </a:rPr>
              <a:t>3</a:t>
            </a:r>
            <a:r>
              <a:rPr lang="ko-KR" altLang="en-US" sz="1200" dirty="0" smtClean="0">
                <a:latin typeface="맑은 고딕"/>
              </a:rPr>
              <a:t>명 구성 의무화</a:t>
            </a:r>
            <a:endParaRPr lang="en-US" altLang="ko-KR" sz="1200" dirty="0" smtClean="0">
              <a:latin typeface="맑은 고딕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313" y="2476228"/>
            <a:ext cx="3477300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124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66416" y="6537960"/>
            <a:ext cx="50366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Ⅰ. 제안 개요 및 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2A4A"/>
                </a:solidFill>
                <a:latin typeface="맑은 고딕"/>
              </a:defRPr>
            </a:pPr>
            <a:r>
              <a:rPr lang="en-US" dirty="0" smtClean="0"/>
              <a:t>4</a:t>
            </a:r>
            <a:r>
              <a:rPr dirty="0" smtClean="0"/>
              <a:t>. </a:t>
            </a:r>
            <a:r>
              <a:rPr lang="ko-KR" altLang="en-US" dirty="0" smtClean="0"/>
              <a:t>표준모델 확산 전략 수립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1587931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>
                <a:latin typeface="맑은 고딕" panose="020B0503020000020004" pitchFamily="50" charset="-127"/>
              </a:rPr>
              <a:t>□</a:t>
            </a:r>
            <a:r>
              <a:rPr lang="en-US" dirty="0" smtClean="0"/>
              <a:t> </a:t>
            </a:r>
            <a:r>
              <a:rPr lang="ko-KR" altLang="en-US" dirty="0" smtClean="0"/>
              <a:t>소방안전관리자의 업무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73187" y="1999411"/>
            <a:ext cx="412381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피난계획에 관한 사항과 소방계획서의 작성 및 시행</a:t>
            </a:r>
            <a:endParaRPr sz="1200" u="sng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자위소방대 및 초기대응체계의 구성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운영 및 교육</a:t>
            </a:r>
            <a:endParaRPr sz="1200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피난시설</a:t>
            </a:r>
            <a:r>
              <a:rPr lang="en-US" altLang="ko-KR" sz="1200" u="sng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방화구획 및 방화시설의 관리</a:t>
            </a:r>
            <a:endParaRPr sz="1200" u="sng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sz="1200" dirty="0" smtClean="0">
                <a:solidFill>
                  <a:srgbClr val="333333"/>
                </a:solidFill>
                <a:latin typeface="맑은 고딕"/>
              </a:rPr>
              <a:t>소</a:t>
            </a:r>
            <a:r>
              <a:rPr lang="ko-KR" altLang="en-US" sz="1200" dirty="0" err="1" smtClean="0">
                <a:solidFill>
                  <a:srgbClr val="333333"/>
                </a:solidFill>
                <a:latin typeface="맑은 고딕"/>
              </a:rPr>
              <a:t>방시설이나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 그 밖의 소방관련 시설의 관리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소방훈련 및 교육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화기 취급과 감독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소방안전관리에 관한 업무수행에 관한 기록 유지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화재발생 시 초기 대응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그 밖에 소방안전관리에 필요한 업무</a:t>
            </a:r>
            <a:endParaRPr sz="1200" dirty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60720" y="158793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>
                <a:latin typeface="맑은 고딕" panose="020B0503020000020004" pitchFamily="50" charset="-127"/>
              </a:rPr>
              <a:t>□</a:t>
            </a:r>
            <a:r>
              <a:rPr lang="en-US" dirty="0" smtClean="0"/>
              <a:t> </a:t>
            </a:r>
            <a:r>
              <a:rPr lang="ko-KR" altLang="en-US" dirty="0" smtClean="0"/>
              <a:t>소방계획서</a:t>
            </a:r>
            <a:r>
              <a:rPr lang="en-US" altLang="ko-KR" dirty="0" smtClean="0"/>
              <a:t>(</a:t>
            </a:r>
            <a:r>
              <a:rPr lang="ko-KR" altLang="en-US" dirty="0" smtClean="0"/>
              <a:t>피난계획</a:t>
            </a:r>
            <a:r>
              <a:rPr lang="en-US" altLang="ko-KR" dirty="0" smtClean="0"/>
              <a:t>)</a:t>
            </a:r>
            <a:r>
              <a:rPr lang="ko-KR" altLang="en-US" dirty="0" smtClean="0"/>
              <a:t> 수립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810088" y="1871128"/>
            <a:ext cx="5756327" cy="2139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화재경보의 수단 및 방식 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: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경보설비 등 활용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층별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/</a:t>
            </a:r>
            <a:r>
              <a:rPr lang="ko-KR" altLang="en-US" sz="1200" dirty="0" err="1" smtClean="0">
                <a:solidFill>
                  <a:srgbClr val="333333"/>
                </a:solidFill>
                <a:latin typeface="맑은 고딕"/>
              </a:rPr>
              <a:t>구획별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 피난대상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인원의 연령별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성별 현황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피난약자의 현황 </a:t>
            </a:r>
            <a:r>
              <a:rPr lang="en-US" altLang="ko-KR" sz="1200" u="sng" dirty="0" smtClean="0">
                <a:solidFill>
                  <a:srgbClr val="333333"/>
                </a:solidFill>
                <a:latin typeface="맑은 고딕"/>
              </a:rPr>
              <a:t>: </a:t>
            </a:r>
            <a:r>
              <a:rPr lang="ko-KR" altLang="en-US" sz="1200" u="sng" dirty="0" err="1" smtClean="0">
                <a:solidFill>
                  <a:srgbClr val="333333"/>
                </a:solidFill>
                <a:latin typeface="맑은 고딕"/>
              </a:rPr>
              <a:t>어린이집</a:t>
            </a:r>
            <a:r>
              <a:rPr lang="en-US" altLang="ko-KR" sz="1200" u="sng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요양원</a:t>
            </a:r>
            <a:r>
              <a:rPr lang="en-US" altLang="ko-KR" sz="1200" u="sng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병원</a:t>
            </a:r>
            <a:r>
              <a:rPr lang="en-US" altLang="ko-KR" sz="1200" u="sng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u="sng" dirty="0" smtClean="0">
                <a:solidFill>
                  <a:srgbClr val="333333"/>
                </a:solidFill>
                <a:latin typeface="맑은 고딕"/>
              </a:rPr>
              <a:t>재활병원 등</a:t>
            </a:r>
            <a:endParaRPr sz="1200" u="sng" dirty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각 거실에서 옥외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옥상 또는 피난안전구역 포함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로 이르는 피난 경로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피난약자 및 피난약자를 동반한 사람의 피난동선과 피난 방법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피난시설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방화구획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그 밖에 피난에 영향을 줄 수 있는 사항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087" y="4145625"/>
            <a:ext cx="5389049" cy="228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1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Ⅲ. 사업 관리 및 기관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rPr lang="ko-KR" altLang="en-US" dirty="0" smtClean="0"/>
              <a:t>전문가 자문위원 위촉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3187" y="1999411"/>
            <a:ext cx="500251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건축사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/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소방기술사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소방관련 교수</a:t>
            </a:r>
            <a:endParaRPr lang="en-US" sz="1200" dirty="0" smtClean="0">
              <a:solidFill>
                <a:srgbClr val="2E86AB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요양병원 종사자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간호사 등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유관기관 종사자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(</a:t>
            </a:r>
            <a:r>
              <a:rPr lang="ko-KR" altLang="en-US" sz="1200" dirty="0" err="1" smtClean="0">
                <a:solidFill>
                  <a:srgbClr val="333333"/>
                </a:solidFill>
                <a:latin typeface="맑은 고딕"/>
              </a:rPr>
              <a:t>한국소방안전원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,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소방시설협회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) </a:t>
            </a: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 smtClean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국립재난안전연구원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/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국립소방연구원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119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구급대원 및 현장 출동 소방지휘관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대한요양병원협회 관계자 또는 실제 시설 운영자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/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원장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ko-KR" altLang="en-US" sz="1200" dirty="0">
                <a:solidFill>
                  <a:srgbClr val="2E86AB"/>
                </a:solidFill>
                <a:latin typeface="맑은 고딕"/>
              </a:rPr>
              <a:t>●  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국민건강보험공단 또는 보건복지부 정책</a:t>
            </a:r>
            <a:r>
              <a:rPr lang="en-US" altLang="ko-KR" sz="1200" dirty="0" smtClean="0">
                <a:solidFill>
                  <a:srgbClr val="333333"/>
                </a:solidFill>
                <a:latin typeface="맑은 고딕"/>
              </a:rPr>
              <a:t>/</a:t>
            </a:r>
            <a:r>
              <a:rPr lang="ko-KR" altLang="en-US" sz="1200" dirty="0" smtClean="0">
                <a:solidFill>
                  <a:srgbClr val="333333"/>
                </a:solidFill>
                <a:latin typeface="맑은 고딕"/>
              </a:rPr>
              <a:t>평가 담당자</a:t>
            </a:r>
            <a:endParaRPr lang="en-US" altLang="ko-KR" sz="1200" dirty="0" smtClean="0">
              <a:solidFill>
                <a:srgbClr val="333333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1587931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D5A80"/>
                </a:solidFill>
                <a:latin typeface="맑은 고딕"/>
              </a:defRPr>
            </a:pPr>
            <a:r>
              <a:rPr lang="ko-KR" altLang="en-US" dirty="0">
                <a:latin typeface="맑은 고딕" panose="020B0503020000020004" pitchFamily="50" charset="-127"/>
              </a:rPr>
              <a:t>□</a:t>
            </a:r>
            <a:r>
              <a:rPr lang="en-US" dirty="0" smtClean="0"/>
              <a:t> </a:t>
            </a:r>
            <a:r>
              <a:rPr lang="ko-KR" altLang="en-US" dirty="0" smtClean="0"/>
              <a:t>전문가 자문 위원</a:t>
            </a:r>
            <a:endParaRPr dirty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24" y="1693879"/>
            <a:ext cx="6684364" cy="34579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9012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502296" y="6537960"/>
            <a:ext cx="567784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맑은 고딕"/>
              </a:defRPr>
            </a:pPr>
            <a:r>
              <a:rPr dirty="0" smtClean="0"/>
              <a:t>2</a:t>
            </a:r>
            <a:r>
              <a:rPr lang="en-US" dirty="0" smtClean="0"/>
              <a:t>5</a:t>
            </a:r>
            <a:r>
              <a:rPr dirty="0" smtClean="0"/>
              <a:t> </a:t>
            </a:r>
            <a:r>
              <a:rPr dirty="0"/>
              <a:t>/ </a:t>
            </a:r>
            <a:r>
              <a:rPr dirty="0" smtClean="0"/>
              <a:t>2</a:t>
            </a:r>
            <a:r>
              <a:rPr lang="en-US" dirty="0" smtClean="0"/>
              <a:t>7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"/>
            <a:ext cx="3200400" cy="4114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5400" bIns="2540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Ⅲ. 사업 관리 및 기관 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맑은 고딕"/>
              </a:defRPr>
            </a:pPr>
            <a:r>
              <a:t>연구 추진 일정 및 마일스톤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0698480" cy="1371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/>
          </p:nvPr>
        </p:nvGraphicFramePr>
        <p:xfrm>
          <a:off x="731520" y="1554480"/>
          <a:ext cx="10698480" cy="4338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4114800"/>
                <a:gridCol w="3566160"/>
              </a:tblGrid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단계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수행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기간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주요 과업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1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rPr sz="1200"/>
                        <a:t>핵심 산출물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1단계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/>
                        <a:t>1~2개월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기초현황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조사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화재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사례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분석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관계자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심층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인터뷰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현황보고서</a:t>
                      </a:r>
                      <a:br>
                        <a:rPr sz="1200"/>
                      </a:br>
                      <a:r>
                        <a:rPr sz="1200"/>
                        <a:t>유형분류표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2단계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2~4개월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국내외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비교분석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유형별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대피체계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표준모델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초안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개발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비교분석보고서</a:t>
                      </a:r>
                      <a:br>
                        <a:rPr sz="1200"/>
                      </a:br>
                      <a:r>
                        <a:rPr sz="1200"/>
                        <a:t>표준안 초안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3단계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4~5개월</a:t>
                      </a:r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매뉴얼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합동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훈련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시나리오</a:t>
                      </a:r>
                      <a:r>
                        <a:rPr sz="1200" dirty="0"/>
                        <a:t>,</a:t>
                      </a:r>
                      <a:br>
                        <a:rPr sz="1200" dirty="0"/>
                      </a:br>
                      <a:r>
                        <a:rPr sz="1200" dirty="0" err="1"/>
                        <a:t>정책과제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발굴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행동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매뉴얼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훈련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시나리오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정책과제</a:t>
                      </a:r>
                      <a:r>
                        <a:rPr sz="1200" dirty="0"/>
                        <a:t> </a:t>
                      </a:r>
                      <a:r>
                        <a:rPr sz="1200" dirty="0" err="1"/>
                        <a:t>제안서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4단계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5~6개월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/>
                        <a:t>전문가 자문·현장 검토,</a:t>
                      </a:r>
                      <a:br>
                        <a:rPr sz="1200"/>
                      </a:br>
                      <a:r>
                        <a:rPr sz="1200"/>
                        <a:t>최종 모델 보완</a:t>
                      </a:r>
                      <a:br>
                        <a:rPr sz="1200"/>
                      </a:br>
                      <a:r>
                        <a:rPr sz="1200"/>
                        <a:t>완료 보고회</a:t>
                      </a:r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defRPr sz="1000" b="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rPr sz="1200" dirty="0" err="1"/>
                        <a:t>최종보고서</a:t>
                      </a:r>
                      <a:r>
                        <a:rPr sz="1200" dirty="0"/>
                        <a:t/>
                      </a:r>
                      <a:br>
                        <a:rPr sz="1200" dirty="0"/>
                      </a:br>
                      <a:r>
                        <a:rPr sz="1200" dirty="0" err="1"/>
                        <a:t>요약보고서</a:t>
                      </a:r>
                      <a:endParaRPr sz="1200" dirty="0"/>
                    </a:p>
                  </a:txBody>
                  <a:tcPr marL="76200" marR="76200" marT="50800" marB="50800" anchor="ctr">
                    <a:solidFill>
                      <a:srgbClr val="E8EE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5191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474720"/>
            <a:ext cx="210312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C4E8"/>
                </a:solidFill>
                <a:latin typeface="맑은 고딕"/>
              </a:defRPr>
            </a:pPr>
            <a:r>
              <a:t>요양(병)원 시설 유형별 대피체계 표준모델 개발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1331</Words>
  <Application>Microsoft Office PowerPoint</Application>
  <PresentationFormat>와이드스크린</PresentationFormat>
  <Paragraphs>193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taehyung kim</dc:creator>
  <cp:keywords/>
  <dc:description>generated using python-pptx</dc:description>
  <cp:lastModifiedBy>taehyung kim</cp:lastModifiedBy>
  <cp:revision>34</cp:revision>
  <dcterms:created xsi:type="dcterms:W3CDTF">2013-01-27T09:14:16Z</dcterms:created>
  <dcterms:modified xsi:type="dcterms:W3CDTF">2026-06-15T03:44:06Z</dcterms:modified>
  <cp:category/>
</cp:coreProperties>
</file>